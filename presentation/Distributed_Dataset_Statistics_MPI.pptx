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E7E8AF4-B43C-64F5-245A-D9B482EBE421}">
          <p14:sldIdLst>
            <p14:sldId id="256"/>
            <p14:sldId id="257"/>
          </p14:sldIdLst>
        </p14:section>
        <p14:section name="Design" id="{FC06D3D7-DDBC-0F0F-71E4-D007347F83AE}">
          <p14:sldIdLst>
            <p14:sldId id="258"/>
            <p14:sldId id="259"/>
            <p14:sldId id="260"/>
          </p14:sldIdLst>
        </p14:section>
        <p14:section name="Evaluation" id="{8D250CF5-5D03-4097-526D-0A95B8C999DD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8E82F68D-9DEE-BE2A-BDCA-EB9DF7514C49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514" y="-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74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compute sum, average, min and max of a large dataset, first sequentially and then with MPI, and measure how runtime changes with data size and process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statistics are all reductions, which is why MPI_Reduce is the right primitive.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value is a pure function of the index, every MPI process can generate its own slice with no data distribution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input data is communicated. Each rank computes its own range from rank and size. Communication happens only in the final reductions.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collectives are tree-based internally, so the reduction cost grows with log P rather than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expected values come from the generator formula, so correctness can be checked without storing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state the core count of the machine. If it has fewer than 4 physical cores, the 4-process numbers include oversubscription.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is derived from the measured means: E = (T1 / TP) /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per-value figures are mean time divided by N, e.g. 0.004306 s / 1,000,000 = 4.31 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 should hold the title, team members, objective, build and run steps, and a results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limitations as the next experiments rather than as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these answers; they match what the slides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with n = 1, 2 and 4 and show the statistics stay identical while time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55448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Distributed Dataset Statistics using MPI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55448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Distributed Dataset Statistics using MPI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Sequential and parallel computation of sum, average, minimum and maximum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PGC Review Project  |  Parallel Computing Lab Evaluation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Team members:  1 . Rohan  S   Baddur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                                2. Vishal   P   K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                                3 . Sandesh  G  Tonni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                                4. Aditya   Patil</a:t>
            </a:r>
            <a:endParaRPr lang="en-US" sz="1400" dirty="0"/>
          </a:p>
        </p:txBody>
      </p:sp>
      <p:sp>
        <p:nvSpPr>
          <p:cNvPr id="6" name="Link rank 1"/>
          <p:cNvSpPr/>
          <p:nvPr/>
        </p:nvSpPr>
        <p:spPr>
          <a:xfrm flipH="1">
            <a:off x="8412480" y="2880360"/>
            <a:ext cx="1280160" cy="11430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Link rank 2"/>
          <p:cNvSpPr/>
          <p:nvPr/>
        </p:nvSpPr>
        <p:spPr>
          <a:xfrm>
            <a:off x="9692640" y="2880360"/>
            <a:ext cx="0" cy="11430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Link rank 3"/>
          <p:cNvSpPr/>
          <p:nvPr/>
        </p:nvSpPr>
        <p:spPr>
          <a:xfrm>
            <a:off x="9692640" y="2880360"/>
            <a:ext cx="1280160" cy="11430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Rank 0"/>
          <p:cNvSpPr/>
          <p:nvPr/>
        </p:nvSpPr>
        <p:spPr>
          <a:xfrm>
            <a:off x="9189720" y="187452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972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Rank 0</a:t>
            </a:r>
            <a:endParaRPr lang="en-US" sz="1400" dirty="0"/>
          </a:p>
        </p:txBody>
      </p:sp>
      <p:sp>
        <p:nvSpPr>
          <p:cNvPr id="11" name="Rank 1"/>
          <p:cNvSpPr/>
          <p:nvPr/>
        </p:nvSpPr>
        <p:spPr>
          <a:xfrm>
            <a:off x="7955280" y="4023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0" y="4023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Rank 1</a:t>
            </a:r>
            <a:endParaRPr lang="en-US" sz="1400" dirty="0"/>
          </a:p>
        </p:txBody>
      </p:sp>
      <p:sp>
        <p:nvSpPr>
          <p:cNvPr id="13" name="Rank 2"/>
          <p:cNvSpPr/>
          <p:nvPr/>
        </p:nvSpPr>
        <p:spPr>
          <a:xfrm>
            <a:off x="9235440" y="4023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4023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Rank 2</a:t>
            </a:r>
            <a:endParaRPr lang="en-US" sz="1400" dirty="0"/>
          </a:p>
        </p:txBody>
      </p:sp>
      <p:sp>
        <p:nvSpPr>
          <p:cNvPr id="15" name="Rank 3"/>
          <p:cNvSpPr/>
          <p:nvPr/>
        </p:nvSpPr>
        <p:spPr>
          <a:xfrm>
            <a:off x="10515600" y="40233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0" y="4023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Rank 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MPI_Reduce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1. Problem definition and objectives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4297680" cy="47548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Given a dataset of N values, compute its sum, average, minimum and maximum.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Each statistic is a reduction: every element contributes independently, and partial results can be merged in any order.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That makes the task a natural fit for data parallelism with MPI.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7" name="Number 1"/>
          <p:cNvSpPr/>
          <p:nvPr/>
        </p:nvSpPr>
        <p:spPr>
          <a:xfrm>
            <a:off x="530352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9659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 a sequential baseline for the four statistics.</a:t>
            </a:r>
            <a:endParaRPr lang="en-US" sz="1600" dirty="0"/>
          </a:p>
        </p:txBody>
      </p:sp>
      <p:sp>
        <p:nvSpPr>
          <p:cNvPr id="10" name="Number 2"/>
          <p:cNvSpPr/>
          <p:nvPr/>
        </p:nvSpPr>
        <p:spPr>
          <a:xfrm>
            <a:off x="530352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7889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 an MPI version that splits the index range across processes.</a:t>
            </a:r>
            <a:endParaRPr lang="en-US" sz="1600" dirty="0"/>
          </a:p>
        </p:txBody>
      </p:sp>
      <p:sp>
        <p:nvSpPr>
          <p:cNvPr id="13" name="Number 3"/>
          <p:cNvSpPr/>
          <p:nvPr/>
        </p:nvSpPr>
        <p:spPr>
          <a:xfrm>
            <a:off x="5303520" y="3657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6118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Combine local results with MPI_Reduce (SUM, MIN, MAX).</a:t>
            </a:r>
            <a:endParaRPr lang="en-US" sz="1600" dirty="0"/>
          </a:p>
        </p:txBody>
      </p:sp>
      <p:sp>
        <p:nvSpPr>
          <p:cNvPr id="16" name="Number 4"/>
          <p:cNvSpPr/>
          <p:nvPr/>
        </p:nvSpPr>
        <p:spPr>
          <a:xfrm>
            <a:off x="5303520" y="4480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4348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Verify results against analytically known values.</a:t>
            </a:r>
            <a:endParaRPr lang="en-US" sz="1600" dirty="0"/>
          </a:p>
        </p:txBody>
      </p:sp>
      <p:sp>
        <p:nvSpPr>
          <p:cNvPr id="19" name="Number 5"/>
          <p:cNvSpPr/>
          <p:nvPr/>
        </p:nvSpPr>
        <p:spPr>
          <a:xfrm>
            <a:off x="5303520" y="5303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0352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5257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Measure time, speedup and efficiency for 3 data sizes and 1, 2, 4 processes.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2. Sequential algorithm (baseline)</a:t>
            </a:r>
            <a:endParaRPr lang="en-US" sz="3200" dirty="0"/>
          </a:p>
        </p:txBody>
      </p:sp>
      <p:sp>
        <p:nvSpPr>
          <p:cNvPr id="3" name="Pseudo-code panel"/>
          <p:cNvSpPr/>
          <p:nvPr/>
        </p:nvSpPr>
        <p:spPr>
          <a:xfrm>
            <a:off x="548640" y="1371600"/>
            <a:ext cx="585216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0;  min = +INF;  max = -INF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0 .. N-1: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  = (i % 1000) + 1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= sum + v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 = MIN(min, v)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 = MAX(max, v)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= sum / N</a:t>
            </a:r>
            <a:endParaRPr lang="en-US" sz="1600" dirty="0"/>
          </a:p>
        </p:txBody>
      </p:sp>
      <p:sp>
        <p:nvSpPr>
          <p:cNvPr id="5" name="Point 1"/>
          <p:cNvSpPr/>
          <p:nvPr/>
        </p:nvSpPr>
        <p:spPr>
          <a:xfrm>
            <a:off x="6766560" y="1371600"/>
            <a:ext cx="4846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Time O(N)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920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pass over all N values; this is the work that parallelism divides.</a:t>
            </a:r>
            <a:endParaRPr lang="en-US" sz="1400" dirty="0"/>
          </a:p>
        </p:txBody>
      </p:sp>
      <p:sp>
        <p:nvSpPr>
          <p:cNvPr id="8" name="Point 2"/>
          <p:cNvSpPr/>
          <p:nvPr/>
        </p:nvSpPr>
        <p:spPr>
          <a:xfrm>
            <a:off x="6766560" y="2834640"/>
            <a:ext cx="4846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Space O(1)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33832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Values are generated from the index, so the dataset is never stored.</a:t>
            </a:r>
            <a:endParaRPr lang="en-US" sz="1400" dirty="0"/>
          </a:p>
        </p:txBody>
      </p:sp>
      <p:sp>
        <p:nvSpPr>
          <p:cNvPr id="11" name="Point 3"/>
          <p:cNvSpPr/>
          <p:nvPr/>
        </p:nvSpPr>
        <p:spPr>
          <a:xfrm>
            <a:off x="6766560" y="4297680"/>
            <a:ext cx="4846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0" y="4434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Reference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4846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Defines the correct answer and the baseline for speedup.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Generated data: value = (index % 1000) + 1, so values repeat 1 to 1000.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3. MPI parallel design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37160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27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Initialize MPI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MPI_Init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6217920" y="137160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6446520" y="16733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27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Discover rank and size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MPI_Comm_rank, MPI_Comm_size</a:t>
            </a:r>
            <a:endParaRPr lang="en-US" sz="1400" dirty="0"/>
          </a:p>
        </p:txBody>
      </p:sp>
      <p:sp>
        <p:nvSpPr>
          <p:cNvPr id="13" name="Step 3"/>
          <p:cNvSpPr/>
          <p:nvPr/>
        </p:nvSpPr>
        <p:spPr>
          <a:xfrm>
            <a:off x="548640" y="260604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777240" y="29077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761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Partition the indices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rank gets about N / P</a:t>
            </a:r>
            <a:endParaRPr lang="en-US" sz="1400" dirty="0"/>
          </a:p>
        </p:txBody>
      </p:sp>
      <p:sp>
        <p:nvSpPr>
          <p:cNvPr id="18" name="Step 4"/>
          <p:cNvSpPr/>
          <p:nvPr/>
        </p:nvSpPr>
        <p:spPr>
          <a:xfrm>
            <a:off x="6217920" y="260604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6446520" y="29077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761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Compute local statistics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local sum, min, max</a:t>
            </a:r>
            <a:endParaRPr lang="en-US" sz="1400" dirty="0"/>
          </a:p>
        </p:txBody>
      </p:sp>
      <p:sp>
        <p:nvSpPr>
          <p:cNvPr id="23" name="Step 5"/>
          <p:cNvSpPr/>
          <p:nvPr/>
        </p:nvSpPr>
        <p:spPr>
          <a:xfrm>
            <a:off x="548640" y="384048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/>
          <p:nvPr/>
        </p:nvSpPr>
        <p:spPr>
          <a:xfrm>
            <a:off x="777240" y="4142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3995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Combine partial results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407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MPI_Reduce to rank 0</a:t>
            </a:r>
            <a:endParaRPr lang="en-US" sz="1400" dirty="0"/>
          </a:p>
        </p:txBody>
      </p:sp>
      <p:sp>
        <p:nvSpPr>
          <p:cNvPr id="28" name="Step 6"/>
          <p:cNvSpPr/>
          <p:nvPr/>
        </p:nvSpPr>
        <p:spPr>
          <a:xfrm>
            <a:off x="6217920" y="384048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9" name="Number 6"/>
          <p:cNvSpPr/>
          <p:nvPr/>
        </p:nvSpPr>
        <p:spPr>
          <a:xfrm>
            <a:off x="6446520" y="41422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995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Finalize and report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4407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rank 0 computes average and prints</a:t>
            </a:r>
            <a:endParaRPr lang="en-US" sz="1400" dirty="0"/>
          </a:p>
        </p:txBody>
      </p:sp>
      <p:sp>
        <p:nvSpPr>
          <p:cNvPr id="33" name="Partition note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Balanced block partition: </a:t>
            </a:r>
            <a:r>
              <a:rPr lang="en-US" sz="1500" dirty="0">
                <a:solidFill>
                  <a:schemeClr val="bg2"/>
                </a:solidFill>
              </a:rPr>
              <a:t>every rank gets floor(N/P) consecutive indices, and the first (N mod P) ranks take one extra, so loads differ by at most one value. Only rank 0 prints the global statistics.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4. Parallel algorithm and communication</a:t>
            </a:r>
            <a:endParaRPr lang="en-US" sz="3200" dirty="0"/>
          </a:p>
        </p:txBody>
      </p:sp>
      <p:sp>
        <p:nvSpPr>
          <p:cNvPr id="3" name="MPI_SUM"/>
          <p:cNvSpPr/>
          <p:nvPr/>
        </p:nvSpPr>
        <p:spPr>
          <a:xfrm>
            <a:off x="54864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MPI_SUM dot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2A6A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MPI_SUM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local value from each rank into global sum on rank 0</a:t>
            </a:r>
            <a:endParaRPr lang="en-US" sz="1400" dirty="0"/>
          </a:p>
        </p:txBody>
      </p:sp>
      <p:sp>
        <p:nvSpPr>
          <p:cNvPr id="7" name="MPI_MIN"/>
          <p:cNvSpPr/>
          <p:nvPr/>
        </p:nvSpPr>
        <p:spPr>
          <a:xfrm>
            <a:off x="429768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MPI_MIN dot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6636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MPI_MIN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local value from each rank into global minimum on rank 0</a:t>
            </a:r>
            <a:endParaRPr lang="en-US" sz="1400" dirty="0"/>
          </a:p>
        </p:txBody>
      </p:sp>
      <p:sp>
        <p:nvSpPr>
          <p:cNvPr id="11" name="MPI_MAX"/>
          <p:cNvSpPr/>
          <p:nvPr/>
        </p:nvSpPr>
        <p:spPr>
          <a:xfrm>
            <a:off x="804672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MPI_MAX dot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rgbClr val="008E9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MPI_MAX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local value from each rank into global maximum on rank 0</a:t>
            </a:r>
            <a:endParaRPr lang="en-US" sz="1400" dirty="0"/>
          </a:p>
        </p:txBody>
      </p:sp>
      <p:sp>
        <p:nvSpPr>
          <p:cNvPr id="15" name="Code strip"/>
          <p:cNvSpPr/>
          <p:nvPr/>
        </p:nvSpPr>
        <p:spPr>
          <a:xfrm>
            <a:off x="548640" y="310896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MPI_Reduce(&amp;local_value, &amp;global_value, 1, &lt;type&gt;, MPI_SUM, 0, MPI_COMM_WORLD);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Implementation notes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average is global_sum / N on rank 0. Averaging the local averages would be wrong whenever slices differ in size.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rank sends only 3 numbers, so communication cost is tiny next to the O(N/P) local loop.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Estimated cost: T(P) is about N/P work plus O(log P) for the reductions.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5. Correctness validation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Dataset size 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Expected sum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Expected average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Expected min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Expected max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100,000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50,050,000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500.5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1,000,000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500,500,000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500.5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5,000,000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2,502,500,000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500.5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1000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Validation card 1"/>
          <p:cNvSpPr/>
          <p:nvPr/>
        </p:nvSpPr>
        <p:spPr>
          <a:xfrm>
            <a:off x="548640" y="37947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Closed form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434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Every block of 1000 consecutive values sums to 500,500, so sum = (N / 1000) x 500,500 and the average is 500.5 for these sizes.</a:t>
            </a:r>
            <a:endParaRPr lang="en-US" sz="1500" dirty="0"/>
          </a:p>
        </p:txBody>
      </p:sp>
      <p:sp>
        <p:nvSpPr>
          <p:cNvPr id="3" name="Validation card 2"/>
          <p:cNvSpPr/>
          <p:nvPr/>
        </p:nvSpPr>
        <p:spPr>
          <a:xfrm>
            <a:off x="4297680" y="37947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2628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Same answer everywhere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4434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Sequential, 1, 2 and 4 process runs must all print identical statistics for the same N.</a:t>
            </a:r>
            <a:endParaRPr lang="en-US" sz="1500" dirty="0"/>
          </a:p>
        </p:txBody>
      </p:sp>
      <p:sp>
        <p:nvSpPr>
          <p:cNvPr id="10" name="Validation card 3"/>
          <p:cNvSpPr/>
          <p:nvPr/>
        </p:nvSpPr>
        <p:spPr>
          <a:xfrm>
            <a:off x="8046720" y="37947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Watch the data type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44348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At N = 5,000,000 the sum is 2,502,500,000, above the 32-bit int limit (2,147,483,647). A 64-bit accumulator is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6. Experimental setup</a:t>
            </a:r>
            <a:endParaRPr lang="en-US" sz="3200" dirty="0"/>
          </a:p>
        </p:txBody>
      </p:sp>
      <p:sp>
        <p:nvSpPr>
          <p:cNvPr id="3" name="Setup 1"/>
          <p:cNvSpPr/>
          <p:nvPr/>
        </p:nvSpPr>
        <p:spPr>
          <a:xfrm>
            <a:off x="548640" y="1371600"/>
            <a:ext cx="6035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Environment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Windows, GCC, Microsoft MPI, Python and Matplotlib for plots.</a:t>
            </a:r>
            <a:endParaRPr lang="en-US" sz="1400" dirty="0"/>
          </a:p>
        </p:txBody>
      </p:sp>
      <p:sp>
        <p:nvSpPr>
          <p:cNvPr id="6" name="Setup 2"/>
          <p:cNvSpPr/>
          <p:nvPr/>
        </p:nvSpPr>
        <p:spPr>
          <a:xfrm>
            <a:off x="548640" y="2560320"/>
            <a:ext cx="6035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70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Hardware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CPU model and physical core count: add here (needed to interpret 4 processes).</a:t>
            </a:r>
            <a:endParaRPr lang="en-US" sz="1400" dirty="0"/>
          </a:p>
        </p:txBody>
      </p:sp>
      <p:sp>
        <p:nvSpPr>
          <p:cNvPr id="9" name="Setup 3"/>
          <p:cNvSpPr/>
          <p:nvPr/>
        </p:nvSpPr>
        <p:spPr>
          <a:xfrm>
            <a:off x="548640" y="3749040"/>
            <a:ext cx="6035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Metrics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Mean time T(P); speedup S = T(1) / T(P); efficiency E = S / P x 100%.</a:t>
            </a:r>
            <a:endParaRPr lang="en-US" sz="1400" dirty="0"/>
          </a:p>
        </p:txBody>
      </p:sp>
      <p:sp>
        <p:nvSpPr>
          <p:cNvPr id="12" name="Setup 4"/>
          <p:cNvSpPr/>
          <p:nvPr/>
        </p:nvSpPr>
        <p:spPr>
          <a:xfrm>
            <a:off x="548640" y="4937760"/>
            <a:ext cx="6035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047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Baseline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40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Speedup is measured against the 1-process MPI run of the same 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Test matrix: 9 configurations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874520"/>
          <a:ext cx="457200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Dataset size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Processes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Trials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1, 2, 4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 each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1,000,000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1, 2, 4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 each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5,000,000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1, 2, 4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 each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Fairness note"/>
          <p:cNvSpPr/>
          <p:nvPr/>
        </p:nvSpPr>
        <p:spPr>
          <a:xfrm>
            <a:off x="7040880" y="4206240"/>
            <a:ext cx="457200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0" y="43434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Statistics were validated against the expected generated values, so the timings describe runs that produced correct results.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7. Mean runtime, speedup and efficiency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767362"/>
              </p:ext>
            </p:extLst>
          </p:nvPr>
        </p:nvGraphicFramePr>
        <p:xfrm>
          <a:off x="548640" y="1325880"/>
          <a:ext cx="11064240" cy="42976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Dataset size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Processes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 time (s)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Efficiency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0.000621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1.00x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</a:rPr>
                        <a:t>100.0%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0.000775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0.80x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83A3A"/>
                          </a:solidFill>
                        </a:rPr>
                        <a:t>40.1%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0.001219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0.51x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83A3A"/>
                          </a:solidFill>
                        </a:rPr>
                        <a:t>12.7%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1,000,000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0.004306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1.00x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</a:rPr>
                        <a:t>100.0%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1,000,000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0.001759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2.45x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</a:rPr>
                        <a:t>87.4%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1,000,000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0.001261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3.41x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</a:rPr>
                        <a:t>85.4%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5,000,000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0.015383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1.00x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</a:rPr>
                        <a:t>100.0%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5,000,000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0.007572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2.03x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</a:rPr>
                        <a:t>93.4%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5,000,000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0.004244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3.62x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</a:rPr>
                        <a:t>90.6%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Speedup and efficiency are relative to the 1-process MPI run of the same dataset. Green: efficiency of 85% or more. Red: below 50%. The 122.4% value is explained in section 10.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10. Interpreting the results</a:t>
            </a:r>
            <a:endParaRPr lang="en-US" sz="3200" dirty="0"/>
          </a:p>
        </p:txBody>
      </p:sp>
      <p:sp>
        <p:nvSpPr>
          <p:cNvPr id="3" name="Analysis 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Marker 1"/>
          <p:cNvSpPr/>
          <p:nvPr/>
        </p:nvSpPr>
        <p:spPr>
          <a:xfrm>
            <a:off x="777240" y="1618488"/>
            <a:ext cx="274320" cy="274320"/>
          </a:xfrm>
          <a:prstGeom prst="ellipse">
            <a:avLst/>
          </a:prstGeom>
          <a:solidFill>
            <a:srgbClr val="B83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100K slows down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whole job is about 0.6 ms (6.2 ns per value). Process coordination and three reductions cost a similar amount, so adding ranks only adds overhead.</a:t>
            </a:r>
            <a:endParaRPr lang="en-US" sz="1600" dirty="0"/>
          </a:p>
        </p:txBody>
      </p:sp>
      <p:sp>
        <p:nvSpPr>
          <p:cNvPr id="7" name="Analysis 2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8" name="Marker 2"/>
          <p:cNvSpPr/>
          <p:nvPr/>
        </p:nvSpPr>
        <p:spPr>
          <a:xfrm>
            <a:off x="6446520" y="1618488"/>
            <a:ext cx="274320" cy="27432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122% is not real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1M baseline costs 4.31 ns per value but the 5M baseline costs only 3.08 ns. The 1M single-process mean is probably inflated by noise, which exaggerates every speedup computed from it.</a:t>
            </a:r>
            <a:endParaRPr lang="en-US" sz="1600" dirty="0"/>
          </a:p>
        </p:txBody>
      </p:sp>
      <p:sp>
        <p:nvSpPr>
          <p:cNvPr id="11" name="Analysis 3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2" name="Marker 3"/>
          <p:cNvSpPr/>
          <p:nvPr/>
        </p:nvSpPr>
        <p:spPr>
          <a:xfrm>
            <a:off x="777240" y="4087368"/>
            <a:ext cx="274320" cy="27432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5M scales well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More work per rank, while communication stays fixed at three values per rank. Compute dominates, so efficiency stays near 90%.</a:t>
            </a:r>
            <a:endParaRPr lang="en-US" sz="1600" dirty="0"/>
          </a:p>
        </p:txBody>
      </p:sp>
      <p:sp>
        <p:nvSpPr>
          <p:cNvPr id="15" name="Analysis 4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6" name="Marker 4"/>
          <p:cNvSpPr/>
          <p:nvPr/>
        </p:nvSpPr>
        <p:spPr>
          <a:xfrm>
            <a:off x="6446520" y="4087368"/>
            <a:ext cx="274320" cy="274320"/>
          </a:xfrm>
          <a:prstGeom prst="ellipse">
            <a:avLst/>
          </a:prstGeom>
          <a:solidFill>
            <a:srgbClr val="5F6B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Limits of this study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One trial for each 100K run; speedup is vs 1-process MPI, not the separate sequential program; runs are on one Windows machine, so rank count is bounded by its cores.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11. Evaluation checkpoints and repository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38404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Checkpoint (2 marks each)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Where it is covered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Problem, sequential algorithm, parallel design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Sections 1 to 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Working MPI implementation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src/ and demo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Runs over sizes and process counts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Sections 6, 7; results/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Time, speedup, efficiency graphs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Sections 8, 9; graphs/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Final demonstration and viva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Sections 13, 14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po panel"/>
          <p:cNvSpPr/>
          <p:nvPr/>
        </p:nvSpPr>
        <p:spPr>
          <a:xfrm>
            <a:off x="7223760" y="1371600"/>
            <a:ext cx="4389120" cy="448056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4980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GitHub layout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20574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mpi-statistics/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results/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graphs/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report/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presentation/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4937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One repository per experiment; the single PPT lives in the lab evaluation repo.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12. Conclusion and future work</a:t>
            </a:r>
            <a:endParaRPr lang="en-US" sz="3200" dirty="0"/>
          </a:p>
        </p:txBody>
      </p:sp>
      <p:sp>
        <p:nvSpPr>
          <p:cNvPr id="3" name="Conclusions card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Conclusions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MPI program computes sum, average, min and max correctly.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Work is split by index range and merged with MPI_Reduce.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At 5M values, 4 processes reached 3.62x speedup and 90.6% efficiency.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At 100K values, MPI overhead outweighs the gain.</a:t>
            </a:r>
            <a:endParaRPr lang="en-US" sz="1800" dirty="0"/>
          </a:p>
        </p:txBody>
      </p:sp>
      <p:sp>
        <p:nvSpPr>
          <p:cNvPr id="6" name="Future work card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Repeat the 100K runs at least 5 times and report standard deviation.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Time the separate sequential program and report speedup against it.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larger N and more processes on a multi-core or cluster machine.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Compare MPI_Reduce with a hybrid MPI + OpenMP version.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13. Likely viva questions</a:t>
            </a:r>
            <a:endParaRPr lang="en-US" sz="3200" dirty="0"/>
          </a:p>
        </p:txBody>
      </p:sp>
      <p:sp>
        <p:nvSpPr>
          <p:cNvPr id="3" name="QA 1"/>
          <p:cNvSpPr/>
          <p:nvPr/>
        </p:nvSpPr>
        <p:spPr>
          <a:xfrm>
            <a:off x="548640" y="132588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990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MPI_Reduce instead of Send/Recv?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39903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collective call combines all ranks with a tree, so it is shorter code and scales better than a manual loop on rank 0.</a:t>
            </a:r>
            <a:endParaRPr lang="en-US" sz="1500" dirty="0"/>
          </a:p>
        </p:txBody>
      </p:sp>
      <p:sp>
        <p:nvSpPr>
          <p:cNvPr id="6" name="QA 2"/>
          <p:cNvSpPr/>
          <p:nvPr/>
        </p:nvSpPr>
        <p:spPr>
          <a:xfrm>
            <a:off x="548640" y="2304288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not average the local averages?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3774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Slices can differ in size. Reduce the sum, then divide by N on rank 0.</a:t>
            </a:r>
            <a:endParaRPr lang="en-US" sz="1500" dirty="0"/>
          </a:p>
        </p:txBody>
      </p:sp>
      <p:sp>
        <p:nvSpPr>
          <p:cNvPr id="9" name="QA 3"/>
          <p:cNvSpPr/>
          <p:nvPr/>
        </p:nvSpPr>
        <p:spPr>
          <a:xfrm>
            <a:off x="548640" y="3282696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558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is 100K slower with more processes?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35584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0.6 ms job is comparable to coordination and reduction overhead.</a:t>
            </a:r>
            <a:endParaRPr lang="en-US" sz="1500" dirty="0"/>
          </a:p>
        </p:txBody>
      </p:sp>
      <p:sp>
        <p:nvSpPr>
          <p:cNvPr id="12" name="QA 4"/>
          <p:cNvSpPr/>
          <p:nvPr/>
        </p:nvSpPr>
        <p:spPr>
          <a:xfrm>
            <a:off x="548640" y="4261104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3425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Is any dataset sent between ranks?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4334256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No. Each rank generates its own indices from the formula; only 3 values per rank are communicated.</a:t>
            </a:r>
            <a:endParaRPr lang="en-US" sz="1500" dirty="0"/>
          </a:p>
        </p:txBody>
      </p:sp>
      <p:sp>
        <p:nvSpPr>
          <p:cNvPr id="15" name="QA 5"/>
          <p:cNvSpPr/>
          <p:nvPr/>
        </p:nvSpPr>
        <p:spPr>
          <a:xfrm>
            <a:off x="548640" y="5239512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31266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Define speedup and efficiency.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531266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 = T(1) / T(P) and E = S / P. Ideal values are P and 100%.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14. Live demonstration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2"/>
                </a:solidFill>
              </a:rPr>
              <a:t>Compile</a:t>
            </a:r>
            <a:endParaRPr lang="en-US" sz="1800" dirty="0"/>
          </a:p>
        </p:txBody>
      </p:sp>
      <p:sp>
        <p:nvSpPr>
          <p:cNvPr id="4" name="Command 1"/>
          <p:cNvSpPr/>
          <p:nvPr/>
        </p:nvSpPr>
        <p:spPr>
          <a:xfrm>
            <a:off x="731520" y="1920240"/>
            <a:ext cx="1069848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mpicc src\mpi_statistics.c -o mpi_statistics.exe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2"/>
                </a:solidFill>
              </a:rPr>
              <a:t>Run on 1, 2 and 4 processes</a:t>
            </a:r>
            <a:endParaRPr lang="en-US" sz="1800" dirty="0"/>
          </a:p>
        </p:txBody>
      </p:sp>
      <p:sp>
        <p:nvSpPr>
          <p:cNvPr id="7" name="Command 2"/>
          <p:cNvSpPr/>
          <p:nvPr/>
        </p:nvSpPr>
        <p:spPr>
          <a:xfrm>
            <a:off x="731520" y="3474720"/>
            <a:ext cx="1069848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4747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mpiexec -n 4 mpi_statistics.exe 1000000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Expected for N = 1,000,000:  sum = 500,500,000   average = 500.5   min = 1   max = 1000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Same statistics for every process count; only the elapsed time changes.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I Lab">
  <a:themeElements>
    <a:clrScheme name="MPI Lab">
      <a:dk1>
        <a:srgbClr val="1F2937"/>
      </a:dk1>
      <a:lt1>
        <a:srgbClr val="FFFFFF"/>
      </a:lt1>
      <a:dk2>
        <a:srgbClr val="1B3252"/>
      </a:dk2>
      <a:lt2>
        <a:srgbClr val="EAF2F8"/>
      </a:lt2>
      <a:accent1>
        <a:srgbClr val="008E94"/>
      </a:accent1>
      <a:accent2>
        <a:srgbClr val="2A6AA0"/>
      </a:accent2>
      <a:accent3>
        <a:srgbClr val="E07B39"/>
      </a:accent3>
      <a:accent4>
        <a:srgbClr val="2E9E5B"/>
      </a:accent4>
      <a:accent5>
        <a:srgbClr val="B83A3A"/>
      </a:accent5>
      <a:accent6>
        <a:srgbClr val="5F6B7C"/>
      </a:accent6>
      <a:hlink>
        <a:srgbClr val="2A6AA0"/>
      </a:hlink>
      <a:folHlink>
        <a:srgbClr val="5F6B7C"/>
      </a:folHlink>
    </a:clrScheme>
    <a:fontScheme name="MPI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1809</Words>
  <Application>Microsoft Office PowerPoint</Application>
  <PresentationFormat>Widescreen</PresentationFormat>
  <Paragraphs>272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MPI Lab</vt:lpstr>
      <vt:lpstr>Distributed Dataset Statistics using MPI</vt:lpstr>
      <vt:lpstr>1. Problem definition and objectives</vt:lpstr>
      <vt:lpstr>2. Sequential algorithm (baseline)</vt:lpstr>
      <vt:lpstr>3. MPI parallel design</vt:lpstr>
      <vt:lpstr>4. Parallel algorithm and communication</vt:lpstr>
      <vt:lpstr>5. Correctness validation</vt:lpstr>
      <vt:lpstr>6. Experimental setup</vt:lpstr>
      <vt:lpstr>7. Mean runtime, speedup and efficiency</vt:lpstr>
      <vt:lpstr>PowerPoint Presentation</vt:lpstr>
      <vt:lpstr>PowerPoint Presentation</vt:lpstr>
      <vt:lpstr>10. Interpreting the results</vt:lpstr>
      <vt:lpstr>11. Evaluation checkpoints and repository</vt:lpstr>
      <vt:lpstr>12. Conclusion and future work</vt:lpstr>
      <vt:lpstr>13. Likely viva questions</vt:lpstr>
      <vt:lpstr>14. Live demonstration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Dataset Statistics using MPI</dc:title>
  <dc:subject>PptxGenJS Presentation</dc:subject>
  <dc:creator>PptxGenJS</dc:creator>
  <cp:lastModifiedBy>Sandesh Tonni</cp:lastModifiedBy>
  <cp:revision>2</cp:revision>
  <dcterms:created xsi:type="dcterms:W3CDTF">2026-10-12T06:36:29Z</dcterms:created>
  <dcterms:modified xsi:type="dcterms:W3CDTF">2026-10-12T07:04:00Z</dcterms:modified>
</cp:coreProperties>
</file>